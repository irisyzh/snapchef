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7"/>
    <p:restoredTop sz="94663"/>
  </p:normalViewPr>
  <p:slideViewPr>
    <p:cSldViewPr snapToGrid="0" snapToObjects="1">
      <p:cViewPr varScale="1">
        <p:scale>
          <a:sx n="117" d="100"/>
          <a:sy n="117" d="100"/>
        </p:scale>
        <p:origin x="600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123444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FF6B35"/>
                </a:solidFill>
                <a:latin typeface="Calibri"/>
              </a:rPr>
              <a:t>MILESTONE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54480"/>
            <a:ext cx="1060704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6400" b="1" i="0">
                <a:solidFill>
                  <a:srgbClr val="F0F0F0"/>
                </a:solidFill>
                <a:latin typeface="Calibri"/>
              </a:rPr>
              <a:t>SnapChef </a:t>
            </a:r>
            <a:r>
              <a:rPr sz="5400" b="1" i="0">
                <a:solidFill>
                  <a:srgbClr val="00C896"/>
                </a:solidFill>
                <a:latin typeface="Calibri"/>
              </a:rPr>
              <a:t>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743200"/>
            <a:ext cx="87782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100" b="0" i="0">
                <a:solidFill>
                  <a:srgbClr val="9AA0A6"/>
                </a:solidFill>
                <a:latin typeface="Calibri"/>
              </a:rPr>
              <a:t>A stick-on smart-fridge companion that recognizes groceries, tracks your inventory, and suggests recipes — on two ESP32-S3 boards.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4114800"/>
            <a:ext cx="3383280" cy="1737360"/>
          </a:xfrm>
          <a:prstGeom prst="roundRect">
            <a:avLst>
              <a:gd name="adj" fmla="val 6000"/>
            </a:avLst>
          </a:prstGeom>
          <a:solidFill>
            <a:srgbClr val="1A1A1A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4297680"/>
            <a:ext cx="3017520" cy="6258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900" b="1" i="0" dirty="0">
                <a:solidFill>
                  <a:srgbClr val="F0F0F0"/>
                </a:solidFill>
                <a:latin typeface="Calibri"/>
              </a:rPr>
              <a:t>Team</a:t>
            </a:r>
          </a:p>
          <a:p>
            <a:pPr>
              <a:spcBef>
                <a:spcPts val="800"/>
              </a:spcBef>
            </a:pPr>
            <a:r>
              <a:rPr sz="1500" b="0" i="0" dirty="0">
                <a:solidFill>
                  <a:srgbClr val="9AA0A6"/>
                </a:solidFill>
                <a:latin typeface="Calibri"/>
              </a:rPr>
              <a:t>Team </a:t>
            </a:r>
            <a:r>
              <a:rPr lang="en-US" sz="1500" b="0" i="0" dirty="0">
                <a:solidFill>
                  <a:srgbClr val="9AA0A6"/>
                </a:solidFill>
                <a:latin typeface="Calibri"/>
              </a:rPr>
              <a:t>SnapChef</a:t>
            </a:r>
            <a:endParaRPr sz="1300" b="1" i="0" dirty="0">
              <a:solidFill>
                <a:srgbClr val="FFDF8A"/>
              </a:solidFill>
              <a:latin typeface="Calibri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389120" y="4114800"/>
            <a:ext cx="3383280" cy="1737360"/>
          </a:xfrm>
          <a:prstGeom prst="roundRect">
            <a:avLst>
              <a:gd name="adj" fmla="val 6000"/>
            </a:avLst>
          </a:prstGeom>
          <a:solidFill>
            <a:srgbClr val="1A1A1A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0" y="4297680"/>
            <a:ext cx="3108960" cy="10156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900" b="1" i="0" dirty="0">
                <a:solidFill>
                  <a:srgbClr val="F0F0F0"/>
                </a:solidFill>
                <a:latin typeface="Calibri"/>
              </a:rPr>
              <a:t>Members</a:t>
            </a:r>
          </a:p>
          <a:p>
            <a:pPr>
              <a:spcBef>
                <a:spcPts val="600"/>
              </a:spcBef>
            </a:pPr>
            <a:r>
              <a:rPr lang="en-US" sz="1400" b="0" i="0" dirty="0">
                <a:solidFill>
                  <a:srgbClr val="F0F0F0"/>
                </a:solidFill>
                <a:latin typeface="Calibri"/>
              </a:rPr>
              <a:t>Eric Meng</a:t>
            </a:r>
            <a:endParaRPr sz="1300" b="1" i="0" dirty="0">
              <a:solidFill>
                <a:srgbClr val="FFDF8A"/>
              </a:solidFill>
              <a:latin typeface="Calibri"/>
            </a:endParaRPr>
          </a:p>
          <a:p>
            <a:r>
              <a:rPr lang="en-US" sz="1400" b="0" i="0" dirty="0">
                <a:solidFill>
                  <a:srgbClr val="F0F0F0"/>
                </a:solidFill>
                <a:latin typeface="Calibri"/>
              </a:rPr>
              <a:t>Iris Yang</a:t>
            </a:r>
          </a:p>
          <a:p>
            <a:r>
              <a:rPr lang="en-US" sz="1400" dirty="0">
                <a:solidFill>
                  <a:srgbClr val="F0F0F0"/>
                </a:solidFill>
                <a:latin typeface="Calibri"/>
              </a:rPr>
              <a:t>Louis Liu</a:t>
            </a:r>
            <a:r>
              <a:rPr lang="en-US" sz="1300" b="1" i="0" dirty="0">
                <a:solidFill>
                  <a:srgbClr val="FFDF8A"/>
                </a:solidFill>
                <a:latin typeface="Calibri"/>
              </a:rPr>
              <a:t>  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79" y="4114800"/>
            <a:ext cx="3383280" cy="1737360"/>
          </a:xfrm>
          <a:prstGeom prst="roundRect">
            <a:avLst>
              <a:gd name="adj" fmla="val 6000"/>
            </a:avLst>
          </a:prstGeom>
          <a:solidFill>
            <a:srgbClr val="1A1A1A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138160" y="4297680"/>
            <a:ext cx="310896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900" b="1" i="0">
                <a:solidFill>
                  <a:srgbClr val="F0F0F0"/>
                </a:solidFill>
                <a:latin typeface="Calibri"/>
              </a:rPr>
              <a:t>Repository</a:t>
            </a:r>
          </a:p>
          <a:p>
            <a:pPr>
              <a:spcBef>
                <a:spcPts val="800"/>
              </a:spcBef>
            </a:pPr>
            <a:r>
              <a:rPr sz="1400" b="1" i="0">
                <a:solidFill>
                  <a:srgbClr val="00C896"/>
                </a:solidFill>
                <a:latin typeface="Calibri"/>
              </a:rPr>
              <a:t>github.com/IrisYzh/SnapChef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55664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alibri"/>
              </a:rPr>
              <a:t>SnapChef · GIX 2026 Spring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55664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FF6B35"/>
                </a:solidFill>
                <a:latin typeface="Calibri"/>
              </a:rPr>
              <a:t>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000" b="1" i="0">
                <a:solidFill>
                  <a:srgbClr val="00C896"/>
                </a:solidFill>
                <a:latin typeface="Calibri"/>
              </a:rPr>
              <a:t>Food gets wasted because no one tracks the fridge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6035040" cy="4206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700" b="0" i="0">
                <a:solidFill>
                  <a:srgbClr val="F0F0F0"/>
                </a:solidFill>
                <a:latin typeface="Calibri"/>
              </a:rPr>
              <a:t>People forget what they already own, buy duplicates, and let produce rot out of sight. Existing “smart fridges” are expensive, built-in, and can’t be added to the fridge you already have.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017520"/>
            <a:ext cx="6035040" cy="274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600" b="1" i="0">
                <a:solidFill>
                  <a:srgbClr val="FF6B35"/>
                </a:solidFill>
                <a:latin typeface="Calibri"/>
              </a:rPr>
              <a:t>•  </a:t>
            </a:r>
            <a:r>
              <a:rPr sz="1600" b="0" i="0">
                <a:solidFill>
                  <a:srgbClr val="F0F0F0"/>
                </a:solidFill>
                <a:latin typeface="Calibri"/>
              </a:rPr>
              <a:t>No lightweight way to log items in/out without an app or typing.</a:t>
            </a:r>
          </a:p>
          <a:p>
            <a:pPr>
              <a:spcAft>
                <a:spcPts val="600"/>
              </a:spcAft>
            </a:pPr>
            <a:r>
              <a:rPr sz="1600" b="1" i="0">
                <a:solidFill>
                  <a:srgbClr val="FF6B35"/>
                </a:solidFill>
                <a:latin typeface="Calibri"/>
              </a:rPr>
              <a:t>•  </a:t>
            </a:r>
            <a:r>
              <a:rPr sz="1600" b="0" i="0">
                <a:solidFill>
                  <a:srgbClr val="F0F0F0"/>
                </a:solidFill>
                <a:latin typeface="Calibri"/>
              </a:rPr>
              <a:t>Produce is hard to track — no barcode, many varieties.</a:t>
            </a:r>
          </a:p>
          <a:p>
            <a:pPr>
              <a:spcAft>
                <a:spcPts val="600"/>
              </a:spcAft>
            </a:pPr>
            <a:r>
              <a:rPr sz="1600" b="1" i="0">
                <a:solidFill>
                  <a:srgbClr val="FF6B35"/>
                </a:solidFill>
                <a:latin typeface="Calibri"/>
              </a:rPr>
              <a:t>•  </a:t>
            </a:r>
            <a:r>
              <a:rPr sz="1600" b="0" i="0">
                <a:solidFill>
                  <a:srgbClr val="F0F0F0"/>
                </a:solidFill>
                <a:latin typeface="Calibri"/>
              </a:rPr>
              <a:t>Receipts hold the data but get thrown away.</a:t>
            </a:r>
          </a:p>
          <a:p>
            <a:pPr>
              <a:spcAft>
                <a:spcPts val="600"/>
              </a:spcAft>
            </a:pPr>
            <a:r>
              <a:rPr sz="1600" b="1" i="0">
                <a:solidFill>
                  <a:srgbClr val="FF6B35"/>
                </a:solidFill>
                <a:latin typeface="Calibri"/>
              </a:rPr>
              <a:t>•  </a:t>
            </a:r>
            <a:r>
              <a:rPr sz="1600" b="0" i="0">
                <a:solidFill>
                  <a:srgbClr val="F0F0F0"/>
                </a:solidFill>
                <a:latin typeface="Calibri"/>
              </a:rPr>
              <a:t>Users want recipe ideas from what they own before it spoils.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1554480"/>
            <a:ext cx="4754880" cy="4023360"/>
          </a:xfrm>
          <a:prstGeom prst="roundRect">
            <a:avLst>
              <a:gd name="adj" fmla="val 6000"/>
            </a:avLst>
          </a:prstGeom>
          <a:solidFill>
            <a:srgbClr val="1A1A1A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0" y="1783080"/>
            <a:ext cx="4297680" cy="3657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900" b="1" i="0">
                <a:solidFill>
                  <a:srgbClr val="00C896"/>
                </a:solidFill>
                <a:latin typeface="Calibri"/>
              </a:rPr>
              <a:t>Intended users</a:t>
            </a:r>
          </a:p>
          <a:p>
            <a:pPr>
              <a:spcBef>
                <a:spcPts val="1000"/>
              </a:spcBef>
            </a:pPr>
            <a:r>
              <a:rPr sz="1600" b="1" i="0">
                <a:solidFill>
                  <a:srgbClr val="FF6B35"/>
                </a:solidFill>
                <a:latin typeface="Calibri"/>
              </a:rPr>
              <a:t>•  </a:t>
            </a:r>
            <a:r>
              <a:rPr sz="1600" b="0" i="0">
                <a:solidFill>
                  <a:srgbClr val="F0F0F0"/>
                </a:solidFill>
                <a:latin typeface="Calibri"/>
              </a:rPr>
              <a:t>Home cooks &amp; busy households who shop weekly and cook from fresh produce.</a:t>
            </a:r>
          </a:p>
          <a:p>
            <a:pPr>
              <a:spcBef>
                <a:spcPts val="1000"/>
              </a:spcBef>
            </a:pPr>
            <a:r>
              <a:rPr sz="1600" b="1" i="0">
                <a:solidFill>
                  <a:srgbClr val="FF6B35"/>
                </a:solidFill>
                <a:latin typeface="Calibri"/>
              </a:rPr>
              <a:t>•  </a:t>
            </a:r>
            <a:r>
              <a:rPr sz="1600" b="0" i="0">
                <a:solidFill>
                  <a:srgbClr val="F0F0F0"/>
                </a:solidFill>
                <a:latin typeface="Calibri"/>
              </a:rPr>
              <a:t>Students / shared apartments who can’t justify a built-in smart fridge.</a:t>
            </a:r>
          </a:p>
          <a:p>
            <a:pPr>
              <a:spcBef>
                <a:spcPts val="1000"/>
              </a:spcBef>
            </a:pPr>
            <a:r>
              <a:rPr sz="1600" b="1" i="0">
                <a:solidFill>
                  <a:srgbClr val="FF6B35"/>
                </a:solidFill>
                <a:latin typeface="Calibri"/>
              </a:rPr>
              <a:t>•  </a:t>
            </a:r>
            <a:r>
              <a:rPr sz="1600" b="0" i="0">
                <a:solidFill>
                  <a:srgbClr val="F0F0F0"/>
                </a:solidFill>
                <a:latin typeface="Calibri"/>
              </a:rPr>
              <a:t>People who want zero-friction input — hold an item to a camera or snap a receipt.</a:t>
            </a:r>
          </a:p>
          <a:p>
            <a:pPr>
              <a:spcBef>
                <a:spcPts val="1400"/>
              </a:spcBef>
            </a:pPr>
            <a:r>
              <a:rPr sz="1300" b="0" i="1">
                <a:solidFill>
                  <a:srgbClr val="9AA0A6"/>
                </a:solidFill>
                <a:latin typeface="Calibri"/>
              </a:rPr>
              <a:t>A peel-and-stick device that turns any fridge into a tracked one.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55664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alibri"/>
              </a:rPr>
              <a:t>SnapChef · GIX 2026 Spring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55664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FF6B35"/>
                </a:solidFill>
                <a:latin typeface="Calibri"/>
              </a:rPr>
              <a:t>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000" b="1" i="0">
                <a:solidFill>
                  <a:srgbClr val="00C896"/>
                </a:solidFill>
                <a:latin typeface="Calibri"/>
              </a:rPr>
              <a:t>A two-board fridge sticker: camera + touchscreen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642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0" i="0">
                <a:solidFill>
                  <a:srgbClr val="9AA0A6"/>
                </a:solidFill>
                <a:latin typeface="Calibri"/>
              </a:rPr>
              <a:t>A sensor/compute board (camera, distance sensor, Wi-Fi) talks over ESP-NOW to a 4.3" touch display that owns the UI and inventory. Heavy AI runs in the cloud.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57400"/>
            <a:ext cx="3474720" cy="1691640"/>
          </a:xfrm>
          <a:prstGeom prst="roundRect">
            <a:avLst>
              <a:gd name="adj" fmla="val 6000"/>
            </a:avLst>
          </a:prstGeom>
          <a:solidFill>
            <a:srgbClr val="1A1A1A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49808" y="2240280"/>
            <a:ext cx="310896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700" b="1" i="0">
                <a:solidFill>
                  <a:srgbClr val="F0F0F0"/>
                </a:solidFill>
                <a:latin typeface="Calibri"/>
              </a:rPr>
              <a:t>🥦  Put in</a:t>
            </a:r>
          </a:p>
          <a:p>
            <a:pPr>
              <a:spcBef>
                <a:spcPts val="600"/>
              </a:spcBef>
            </a:pPr>
            <a:r>
              <a:rPr sz="1250" b="0" i="0">
                <a:solidFill>
                  <a:srgbClr val="9AA0A6"/>
                </a:solidFill>
                <a:latin typeface="Calibri"/>
              </a:rPr>
              <a:t>Hold a fruit/veg to the camera, or snap a grocery receipt. Items are recognized and merged into your fridge inventory.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70248" y="2057400"/>
            <a:ext cx="3474720" cy="1691640"/>
          </a:xfrm>
          <a:prstGeom prst="roundRect">
            <a:avLst>
              <a:gd name="adj" fmla="val 6000"/>
            </a:avLst>
          </a:prstGeom>
          <a:solidFill>
            <a:srgbClr val="1A1A1A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471416" y="2240280"/>
            <a:ext cx="310896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700" b="1" i="0">
                <a:solidFill>
                  <a:srgbClr val="F0F0F0"/>
                </a:solidFill>
                <a:latin typeface="Calibri"/>
              </a:rPr>
              <a:t>🍳  Take out + recipes</a:t>
            </a:r>
          </a:p>
          <a:p>
            <a:pPr>
              <a:spcBef>
                <a:spcPts val="600"/>
              </a:spcBef>
            </a:pPr>
            <a:r>
              <a:rPr sz="1250" b="0" i="0">
                <a:solidFill>
                  <a:srgbClr val="9AA0A6"/>
                </a:solidFill>
                <a:latin typeface="Calibri"/>
              </a:rPr>
              <a:t>Scan an item to remove it, or pick from the list. SnapChef suggests recipes from what's left and shows which items each uses.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91856" y="2057400"/>
            <a:ext cx="3474720" cy="1691640"/>
          </a:xfrm>
          <a:prstGeom prst="roundRect">
            <a:avLst>
              <a:gd name="adj" fmla="val 6000"/>
            </a:avLst>
          </a:prstGeom>
          <a:solidFill>
            <a:srgbClr val="1A1A1A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193024" y="2240280"/>
            <a:ext cx="310896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700" b="1" i="0">
                <a:solidFill>
                  <a:srgbClr val="F0F0F0"/>
                </a:solidFill>
                <a:latin typeface="Calibri"/>
              </a:rPr>
              <a:t>📋  My Fridge</a:t>
            </a:r>
          </a:p>
          <a:p>
            <a:pPr>
              <a:spcBef>
                <a:spcPts val="600"/>
              </a:spcBef>
            </a:pPr>
            <a:r>
              <a:rPr sz="1250" b="0" i="0">
                <a:solidFill>
                  <a:srgbClr val="9AA0A6"/>
                </a:solidFill>
                <a:latin typeface="Calibri"/>
              </a:rPr>
              <a:t>Browse inventory sorted by name &amp; time added; remove by tap. Proximity wake lights the screen as you approach.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977639"/>
            <a:ext cx="5486400" cy="2148840"/>
          </a:xfrm>
          <a:prstGeom prst="roundRect">
            <a:avLst>
              <a:gd name="adj" fmla="val 6000"/>
            </a:avLst>
          </a:prstGeom>
          <a:solidFill>
            <a:srgbClr val="1A1A1A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4160520"/>
            <a:ext cx="502920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700" b="1" i="0">
                <a:solidFill>
                  <a:srgbClr val="00C896"/>
                </a:solidFill>
                <a:latin typeface="Calibri"/>
              </a:rPr>
              <a:t>Key features</a:t>
            </a:r>
          </a:p>
          <a:p>
            <a:pPr>
              <a:spcBef>
                <a:spcPts val="500"/>
              </a:spcBef>
            </a:pPr>
            <a:r>
              <a:rPr sz="1300" b="1" i="0">
                <a:solidFill>
                  <a:srgbClr val="FF6B35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F0F0F0"/>
                </a:solidFill>
                <a:latin typeface="Calibri"/>
              </a:rPr>
              <a:t>On-device ML (TFLM, 10 produce classes) — instant, offline.</a:t>
            </a:r>
          </a:p>
          <a:p>
            <a:pPr>
              <a:spcBef>
                <a:spcPts val="500"/>
              </a:spcBef>
            </a:pPr>
            <a:r>
              <a:rPr sz="1300" b="1" i="0">
                <a:solidFill>
                  <a:srgbClr val="FF6B35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F0F0F0"/>
                </a:solidFill>
                <a:latin typeface="Calibri"/>
              </a:rPr>
              <a:t>Cloud LLM-vision fallback for any produce outside those classes.</a:t>
            </a:r>
          </a:p>
          <a:p>
            <a:pPr>
              <a:spcBef>
                <a:spcPts val="500"/>
              </a:spcBef>
            </a:pPr>
            <a:r>
              <a:rPr sz="1300" b="1" i="0">
                <a:solidFill>
                  <a:srgbClr val="FF6B35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F0F0F0"/>
                </a:solidFill>
                <a:latin typeface="Calibri"/>
              </a:rPr>
              <a:t>Receipt OCR → structured grocery list with refrigeration tags.</a:t>
            </a:r>
          </a:p>
          <a:p>
            <a:pPr>
              <a:spcBef>
                <a:spcPts val="500"/>
              </a:spcBef>
            </a:pPr>
            <a:r>
              <a:rPr sz="1300" b="1" i="0">
                <a:solidFill>
                  <a:srgbClr val="FF6B35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F0F0F0"/>
                </a:solidFill>
                <a:latin typeface="Calibri"/>
              </a:rPr>
              <a:t>LLM recipe suggestions from current inventory.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977639"/>
            <a:ext cx="5394960" cy="2148840"/>
          </a:xfrm>
          <a:prstGeom prst="roundRect">
            <a:avLst>
              <a:gd name="adj" fmla="val 6000"/>
            </a:avLst>
          </a:prstGeom>
          <a:solidFill>
            <a:srgbClr val="1A1A1A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46520" y="4160520"/>
            <a:ext cx="493776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700" b="1" i="0">
                <a:solidFill>
                  <a:srgbClr val="00C896"/>
                </a:solidFill>
                <a:latin typeface="Calibri"/>
              </a:rPr>
              <a:t>Hardware &amp; stack</a:t>
            </a:r>
          </a:p>
          <a:p>
            <a:pPr>
              <a:spcBef>
                <a:spcPts val="500"/>
              </a:spcBef>
            </a:pPr>
            <a:r>
              <a:rPr sz="1300" b="1" i="0">
                <a:solidFill>
                  <a:srgbClr val="FF6B35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F0F0F0"/>
                </a:solidFill>
                <a:latin typeface="Calibri"/>
              </a:rPr>
              <a:t>Main: Seeed XIAO ESP32S3 Sense (camera + HC-SR04 + Wi-Fi).</a:t>
            </a:r>
          </a:p>
          <a:p>
            <a:pPr>
              <a:spcBef>
                <a:spcPts val="500"/>
              </a:spcBef>
            </a:pPr>
            <a:r>
              <a:rPr sz="1300" b="1" i="0">
                <a:solidFill>
                  <a:srgbClr val="FF6B35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F0F0F0"/>
                </a:solidFill>
                <a:latin typeface="Calibri"/>
              </a:rPr>
              <a:t>Display: Waveshare ESP32-S3-Touch-LCD-4.3 (LVGL UI).</a:t>
            </a:r>
          </a:p>
          <a:p>
            <a:pPr>
              <a:spcBef>
                <a:spcPts val="500"/>
              </a:spcBef>
            </a:pPr>
            <a:r>
              <a:rPr sz="1300" b="1" i="0">
                <a:solidFill>
                  <a:srgbClr val="FF6B35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F0F0F0"/>
                </a:solidFill>
                <a:latin typeface="Calibri"/>
              </a:rPr>
              <a:t>Link: ESP-NOW peer-to-peer between boards.</a:t>
            </a:r>
          </a:p>
          <a:p>
            <a:pPr>
              <a:spcBef>
                <a:spcPts val="500"/>
              </a:spcBef>
            </a:pPr>
            <a:r>
              <a:rPr sz="1300" b="1" i="0">
                <a:solidFill>
                  <a:srgbClr val="FF6B35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F0F0F0"/>
                </a:solidFill>
                <a:latin typeface="Calibri"/>
              </a:rPr>
              <a:t>Backend: FastAPI on Railway + Claude Vision / Baidu / Textract.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55664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alibri"/>
              </a:rPr>
              <a:t>SnapChef · GIX 2026 Spring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455664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FF6B35"/>
                </a:solidFill>
                <a:latin typeface="Calibri"/>
              </a:rPr>
              <a:t>UPDATED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000" b="1" i="0">
                <a:solidFill>
                  <a:srgbClr val="00C896"/>
                </a:solidFill>
                <a:latin typeface="Calibri"/>
              </a:rPr>
              <a:t>System diagram — color = maturity · line = interface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62456"/>
            <a:ext cx="164592" cy="164592"/>
          </a:xfrm>
          <a:prstGeom prst="rect">
            <a:avLst/>
          </a:prstGeom>
          <a:solidFill>
            <a:srgbClr val="2FA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86384" y="1325880"/>
            <a:ext cx="1554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9AA0A6"/>
                </a:solidFill>
                <a:latin typeface="Calibri"/>
              </a:rPr>
              <a:t>Proven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0" y="1362456"/>
            <a:ext cx="164592" cy="164592"/>
          </a:xfrm>
          <a:prstGeom prst="rect">
            <a:avLst/>
          </a:prstGeom>
          <a:solidFill>
            <a:srgbClr val="E0B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066543" y="1325880"/>
            <a:ext cx="1554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9AA0A6"/>
                </a:solidFill>
                <a:latin typeface="Calibri"/>
              </a:rPr>
              <a:t>In progress</a:t>
            </a:r>
          </a:p>
        </p:txBody>
      </p:sp>
      <p:sp>
        <p:nvSpPr>
          <p:cNvPr id="8" name="Rectangle 7"/>
          <p:cNvSpPr/>
          <p:nvPr/>
        </p:nvSpPr>
        <p:spPr>
          <a:xfrm>
            <a:off x="3383280" y="1362456"/>
            <a:ext cx="164592" cy="164592"/>
          </a:xfrm>
          <a:prstGeom prst="rect">
            <a:avLst/>
          </a:prstGeom>
          <a:solidFill>
            <a:srgbClr val="FF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21024" y="1325880"/>
            <a:ext cx="1554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9AA0A6"/>
                </a:solidFill>
                <a:latin typeface="Calibri"/>
              </a:rPr>
              <a:t>Blocked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1325880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9AA0A6"/>
                </a:solidFill>
                <a:latin typeface="Calibri"/>
              </a:rPr>
              <a:t>——  tested interface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79" y="1325880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9AA0A6"/>
                </a:solidFill>
                <a:latin typeface="Calibri"/>
              </a:rPr>
              <a:t>– – –  unverified interface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783080"/>
            <a:ext cx="3383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50" b="1" i="0">
                <a:solidFill>
                  <a:srgbClr val="FF6B35"/>
                </a:solidFill>
                <a:latin typeface="Calibri"/>
              </a:rPr>
              <a:t>DISPLAY · Waveshare LVGL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1783080"/>
            <a:ext cx="3383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50" b="1" i="0">
                <a:solidFill>
                  <a:srgbClr val="FF6B35"/>
                </a:solidFill>
                <a:latin typeface="Calibri"/>
              </a:rPr>
              <a:t>MAIN · XIAO ESP32S3 Sense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1783080"/>
            <a:ext cx="3383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50" b="1" i="0">
                <a:solidFill>
                  <a:srgbClr val="FF6B35"/>
                </a:solidFill>
                <a:latin typeface="Calibri"/>
              </a:rPr>
              <a:t>CLOUD · FastAPI @ Railway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148840"/>
            <a:ext cx="3383280" cy="676656"/>
          </a:xfrm>
          <a:prstGeom prst="roundRect">
            <a:avLst>
              <a:gd name="adj" fmla="val 6000"/>
            </a:avLst>
          </a:prstGeom>
          <a:solidFill>
            <a:srgbClr val="16341F"/>
          </a:solidFill>
          <a:ln w="22225">
            <a:solidFill>
              <a:srgbClr val="2FA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50" b="1" i="0">
                <a:solidFill>
                  <a:srgbClr val="F0F0F0"/>
                </a:solidFill>
                <a:latin typeface="Calibri"/>
              </a:rPr>
              <a:t>LVGL UI + screen flows</a:t>
            </a:r>
          </a:p>
          <a:p>
            <a:pPr algn="ctr"/>
            <a:r>
              <a:rPr sz="1050" b="0" i="0">
                <a:solidFill>
                  <a:srgbClr val="C8C8C8"/>
                </a:solidFill>
                <a:latin typeface="Calibri"/>
              </a:rPr>
              <a:t>put-in / take-out / fridge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2926080"/>
            <a:ext cx="3383280" cy="676656"/>
          </a:xfrm>
          <a:prstGeom prst="roundRect">
            <a:avLst>
              <a:gd name="adj" fmla="val 6000"/>
            </a:avLst>
          </a:prstGeom>
          <a:solidFill>
            <a:srgbClr val="16341F"/>
          </a:solidFill>
          <a:ln w="22225">
            <a:solidFill>
              <a:srgbClr val="2FA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50" b="1" i="0">
                <a:solidFill>
                  <a:srgbClr val="F0F0F0"/>
                </a:solidFill>
                <a:latin typeface="Calibri"/>
              </a:rPr>
              <a:t>Inventory v2 (NVS)</a:t>
            </a:r>
          </a:p>
          <a:p>
            <a:pPr algn="ctr"/>
            <a:r>
              <a:rPr sz="1050" b="0" i="0">
                <a:solidFill>
                  <a:srgbClr val="C8C8C8"/>
                </a:solidFill>
                <a:latin typeface="Calibri"/>
              </a:rPr>
              <a:t>timestamps · normalized names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703320"/>
            <a:ext cx="3383280" cy="676656"/>
          </a:xfrm>
          <a:prstGeom prst="roundRect">
            <a:avLst>
              <a:gd name="adj" fmla="val 6000"/>
            </a:avLst>
          </a:prstGeom>
          <a:solidFill>
            <a:srgbClr val="3A3116"/>
          </a:solidFill>
          <a:ln w="22225">
            <a:solidFill>
              <a:srgbClr val="E0B3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50" b="1" i="0">
                <a:solidFill>
                  <a:srgbClr val="F0F0F0"/>
                </a:solidFill>
                <a:latin typeface="Calibri"/>
              </a:rPr>
              <a:t>Manual take-out + recipe UI</a:t>
            </a:r>
          </a:p>
          <a:p>
            <a:pPr algn="ctr"/>
            <a:r>
              <a:rPr sz="1050" b="0" i="0">
                <a:solidFill>
                  <a:srgbClr val="C8C8C8"/>
                </a:solidFill>
                <a:latin typeface="Calibri"/>
              </a:rPr>
              <a:t>used/missing remove chips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480560"/>
            <a:ext cx="3383280" cy="585216"/>
          </a:xfrm>
          <a:prstGeom prst="roundRect">
            <a:avLst>
              <a:gd name="adj" fmla="val 6000"/>
            </a:avLst>
          </a:prstGeom>
          <a:solidFill>
            <a:srgbClr val="16341F"/>
          </a:solidFill>
          <a:ln w="22225">
            <a:solidFill>
              <a:srgbClr val="2FA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50" b="1" i="0">
                <a:solidFill>
                  <a:srgbClr val="F0F0F0"/>
                </a:solidFill>
                <a:latin typeface="Calibri"/>
              </a:rPr>
              <a:t>Display E2E verified</a:t>
            </a:r>
          </a:p>
          <a:p>
            <a:pPr algn="ctr"/>
            <a:r>
              <a:rPr sz="1050" b="0" i="0">
                <a:solidFill>
                  <a:srgbClr val="C8C8C8"/>
                </a:solidFill>
                <a:latin typeface="Calibri"/>
              </a:rPr>
              <a:t>2 consecutive runs ✓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89120" y="2148840"/>
            <a:ext cx="3383280" cy="676656"/>
          </a:xfrm>
          <a:prstGeom prst="roundRect">
            <a:avLst>
              <a:gd name="adj" fmla="val 6000"/>
            </a:avLst>
          </a:prstGeom>
          <a:solidFill>
            <a:srgbClr val="16341F"/>
          </a:solidFill>
          <a:ln w="22225">
            <a:solidFill>
              <a:srgbClr val="2FA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50" b="1" i="0">
                <a:solidFill>
                  <a:srgbClr val="F0F0F0"/>
                </a:solidFill>
                <a:latin typeface="Calibri"/>
              </a:rPr>
              <a:t>Camera capture (JPEG)</a:t>
            </a:r>
          </a:p>
          <a:p>
            <a:pPr algn="ctr"/>
            <a:r>
              <a:rPr sz="1050" b="0" i="0">
                <a:solidFill>
                  <a:srgbClr val="C8C8C8"/>
                </a:solidFill>
                <a:latin typeface="Calibri"/>
              </a:rPr>
              <a:t>UXGA · FB-OVF-safe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9120" y="2926080"/>
            <a:ext cx="3383280" cy="676656"/>
          </a:xfrm>
          <a:prstGeom prst="roundRect">
            <a:avLst>
              <a:gd name="adj" fmla="val 6000"/>
            </a:avLst>
          </a:prstGeom>
          <a:solidFill>
            <a:srgbClr val="16341F"/>
          </a:solidFill>
          <a:ln w="22225">
            <a:solidFill>
              <a:srgbClr val="2FA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50" b="1" i="0">
                <a:solidFill>
                  <a:srgbClr val="F0F0F0"/>
                </a:solidFill>
                <a:latin typeface="Calibri"/>
              </a:rPr>
              <a:t>TFLM classifier (10 classes)</a:t>
            </a:r>
          </a:p>
          <a:p>
            <a:pPr algn="ctr"/>
            <a:r>
              <a:rPr sz="1050" b="0" i="0">
                <a:solidFill>
                  <a:srgbClr val="C8C8C8"/>
                </a:solidFill>
                <a:latin typeface="Calibri"/>
              </a:rPr>
              <a:t>on-device · conf≥0.90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3703320"/>
            <a:ext cx="3383280" cy="676656"/>
          </a:xfrm>
          <a:prstGeom prst="roundRect">
            <a:avLst>
              <a:gd name="adj" fmla="val 6000"/>
            </a:avLst>
          </a:prstGeom>
          <a:solidFill>
            <a:srgbClr val="16341F"/>
          </a:solidFill>
          <a:ln w="22225">
            <a:solidFill>
              <a:srgbClr val="2FA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50" b="1" i="0">
                <a:solidFill>
                  <a:srgbClr val="F0F0F0"/>
                </a:solidFill>
                <a:latin typeface="Calibri"/>
              </a:rPr>
              <a:t>Cloud-fallback controller</a:t>
            </a:r>
          </a:p>
          <a:p>
            <a:pPr algn="ctr"/>
            <a:r>
              <a:rPr sz="1050" b="0" i="0">
                <a:solidFill>
                  <a:srgbClr val="C8C8C8"/>
                </a:solidFill>
                <a:latin typeface="Calibri"/>
              </a:rPr>
              <a:t>5 s local → LLM call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9120" y="4480560"/>
            <a:ext cx="3383280" cy="585216"/>
          </a:xfrm>
          <a:prstGeom prst="roundRect">
            <a:avLst>
              <a:gd name="adj" fmla="val 6000"/>
            </a:avLst>
          </a:prstGeom>
          <a:solidFill>
            <a:srgbClr val="16341F"/>
          </a:solidFill>
          <a:ln w="22225">
            <a:solidFill>
              <a:srgbClr val="2FA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50" b="1" i="0">
                <a:solidFill>
                  <a:srgbClr val="F0F0F0"/>
                </a:solidFill>
                <a:latin typeface="Calibri"/>
              </a:rPr>
              <a:t>HC-SR04 proximity wake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89120" y="5175504"/>
            <a:ext cx="3383280" cy="585216"/>
          </a:xfrm>
          <a:prstGeom prst="roundRect">
            <a:avLst>
              <a:gd name="adj" fmla="val 6000"/>
            </a:avLst>
          </a:prstGeom>
          <a:solidFill>
            <a:srgbClr val="16341F"/>
          </a:solidFill>
          <a:ln w="22225">
            <a:solidFill>
              <a:srgbClr val="2FA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50" b="1" i="0">
                <a:solidFill>
                  <a:srgbClr val="F0F0F0"/>
                </a:solidFill>
                <a:latin typeface="Calibri"/>
              </a:rPr>
              <a:t>Wi-Fi + NTP clock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0" y="2148840"/>
            <a:ext cx="3383280" cy="640080"/>
          </a:xfrm>
          <a:prstGeom prst="roundRect">
            <a:avLst>
              <a:gd name="adj" fmla="val 6000"/>
            </a:avLst>
          </a:prstGeom>
          <a:solidFill>
            <a:srgbClr val="16341F"/>
          </a:solidFill>
          <a:ln w="22225">
            <a:solidFill>
              <a:srgbClr val="2FA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50" b="1" i="0">
                <a:solidFill>
                  <a:srgbClr val="F0F0F0"/>
                </a:solidFill>
                <a:latin typeface="Calibri"/>
              </a:rPr>
              <a:t>/produce/recognize-llm</a:t>
            </a:r>
          </a:p>
          <a:p>
            <a:pPr algn="ctr"/>
            <a:r>
              <a:rPr sz="1050" b="0" i="0">
                <a:solidFill>
                  <a:srgbClr val="C8C8C8"/>
                </a:solidFill>
                <a:latin typeface="Calibri"/>
              </a:rPr>
              <a:t>Claude Vision · 200 OK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0" y="2880360"/>
            <a:ext cx="3383280" cy="640080"/>
          </a:xfrm>
          <a:prstGeom prst="roundRect">
            <a:avLst>
              <a:gd name="adj" fmla="val 6000"/>
            </a:avLst>
          </a:prstGeom>
          <a:solidFill>
            <a:srgbClr val="16341F"/>
          </a:solidFill>
          <a:ln w="22225">
            <a:solidFill>
              <a:srgbClr val="2FA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50" b="1" i="0">
                <a:solidFill>
                  <a:srgbClr val="F0F0F0"/>
                </a:solidFill>
                <a:latin typeface="Calibri"/>
              </a:rPr>
              <a:t>/receipts/analyze</a:t>
            </a:r>
          </a:p>
          <a:p>
            <a:pPr algn="ctr"/>
            <a:r>
              <a:rPr sz="1050" b="0" i="0">
                <a:solidFill>
                  <a:srgbClr val="C8C8C8"/>
                </a:solidFill>
                <a:latin typeface="Calibri"/>
              </a:rPr>
              <a:t>Textract + Claude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0" y="3611880"/>
            <a:ext cx="3383280" cy="640080"/>
          </a:xfrm>
          <a:prstGeom prst="roundRect">
            <a:avLst>
              <a:gd name="adj" fmla="val 6000"/>
            </a:avLst>
          </a:prstGeom>
          <a:solidFill>
            <a:srgbClr val="3A3116"/>
          </a:solidFill>
          <a:ln w="22225">
            <a:solidFill>
              <a:srgbClr val="E0B3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50" b="1" i="0">
                <a:solidFill>
                  <a:srgbClr val="F0F0F0"/>
                </a:solidFill>
                <a:latin typeface="Calibri"/>
              </a:rPr>
              <a:t>/recipes/list · /steps</a:t>
            </a:r>
          </a:p>
          <a:p>
            <a:pPr algn="ctr"/>
            <a:r>
              <a:rPr sz="1050" b="0" i="0">
                <a:solidFill>
                  <a:srgbClr val="C8C8C8"/>
                </a:solidFill>
                <a:latin typeface="Calibri"/>
              </a:rPr>
              <a:t>used_fridge / missing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0" y="4343400"/>
            <a:ext cx="3383280" cy="566928"/>
          </a:xfrm>
          <a:prstGeom prst="roundRect">
            <a:avLst>
              <a:gd name="adj" fmla="val 6000"/>
            </a:avLst>
          </a:prstGeom>
          <a:solidFill>
            <a:srgbClr val="16341F"/>
          </a:solidFill>
          <a:ln w="22225">
            <a:solidFill>
              <a:srgbClr val="2FA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50" b="1" i="0">
                <a:solidFill>
                  <a:srgbClr val="F0F0F0"/>
                </a:solidFill>
                <a:latin typeface="Calibri"/>
              </a:rPr>
              <a:t>/healthz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3931920" y="2395728"/>
            <a:ext cx="457200" cy="0"/>
          </a:xfrm>
          <a:prstGeom prst="line">
            <a:avLst/>
          </a:prstGeom>
          <a:ln w="28575">
            <a:solidFill>
              <a:srgbClr val="3FC97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>
            <a:off x="3931920" y="2670048"/>
            <a:ext cx="457200" cy="0"/>
          </a:xfrm>
          <a:prstGeom prst="line">
            <a:avLst/>
          </a:prstGeom>
          <a:ln w="28575">
            <a:solidFill>
              <a:srgbClr val="3FC97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3566160" y="1975104"/>
            <a:ext cx="1188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0">
                <a:solidFill>
                  <a:srgbClr val="9AA0A6"/>
                </a:solidFill>
                <a:latin typeface="Calibri"/>
              </a:rPr>
              <a:t>ESP-NOW</a:t>
            </a:r>
          </a:p>
        </p:txBody>
      </p:sp>
      <p:cxnSp>
        <p:nvCxnSpPr>
          <p:cNvPr id="31" name="Connector 30"/>
          <p:cNvCxnSpPr/>
          <p:nvPr/>
        </p:nvCxnSpPr>
        <p:spPr>
          <a:xfrm flipH="1" flipV="1">
            <a:off x="3931920" y="3264408"/>
            <a:ext cx="457200" cy="2176272"/>
          </a:xfrm>
          <a:prstGeom prst="line">
            <a:avLst/>
          </a:prstGeom>
          <a:ln w="22860">
            <a:solidFill>
              <a:srgbClr val="88888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3566160" y="5047488"/>
            <a:ext cx="1188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0" i="0">
                <a:solidFill>
                  <a:srgbClr val="9AA0A6"/>
                </a:solidFill>
                <a:latin typeface="Calibri"/>
              </a:rPr>
              <a:t>time_sync</a:t>
            </a:r>
          </a:p>
        </p:txBody>
      </p:sp>
      <p:cxnSp>
        <p:nvCxnSpPr>
          <p:cNvPr id="33" name="Connector 32"/>
          <p:cNvCxnSpPr/>
          <p:nvPr/>
        </p:nvCxnSpPr>
        <p:spPr>
          <a:xfrm flipV="1">
            <a:off x="7772400" y="2651760"/>
            <a:ext cx="457200" cy="45720"/>
          </a:xfrm>
          <a:prstGeom prst="line">
            <a:avLst/>
          </a:prstGeom>
          <a:ln w="24130">
            <a:solidFill>
              <a:srgbClr val="88888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7223760" y="2286000"/>
            <a:ext cx="1554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0" i="0">
                <a:solidFill>
                  <a:srgbClr val="9AA0A6"/>
                </a:solidFill>
                <a:latin typeface="Calibri"/>
              </a:rPr>
              <a:t>HTTPS</a:t>
            </a:r>
          </a:p>
        </p:txBody>
      </p:sp>
      <p:cxnSp>
        <p:nvCxnSpPr>
          <p:cNvPr id="35" name="Connector 34"/>
          <p:cNvCxnSpPr/>
          <p:nvPr/>
        </p:nvCxnSpPr>
        <p:spPr>
          <a:xfrm flipV="1">
            <a:off x="7772400" y="3703320"/>
            <a:ext cx="457200" cy="45719"/>
          </a:xfrm>
          <a:prstGeom prst="line">
            <a:avLst/>
          </a:prstGeom>
          <a:ln w="24130">
            <a:solidFill>
              <a:srgbClr val="888888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7223760" y="3840480"/>
            <a:ext cx="1554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0" i="0">
                <a:solidFill>
                  <a:srgbClr val="9AA0A6"/>
                </a:solidFill>
                <a:latin typeface="Calibri"/>
              </a:rPr>
              <a:t>recipes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6053328"/>
            <a:ext cx="11064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777777"/>
                </a:solidFill>
                <a:latin typeface="Calibri"/>
              </a:rPr>
              <a:t>Change since Milestone 1: BLE link → ESP-NOW; on-device-only recognition now has a cloud LLM fallback; inventory gained timestamps, normalized names, manual take-out and recipe used/missing UI.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6455664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alibri"/>
              </a:rPr>
              <a:t>SnapChef · GIX 2026 Spring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0" y="6455664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FF6B35"/>
                </a:solidFill>
                <a:latin typeface="Calibri"/>
              </a:rPr>
              <a:t>OPTIMIZATION · SINCE MILESTONE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000" b="1" i="0">
                <a:solidFill>
                  <a:srgbClr val="00C896"/>
                </a:solidFill>
                <a:latin typeface="Calibri"/>
              </a:rPr>
              <a:t>Two measurable improvements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417320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F0F0F0"/>
                </a:solidFill>
                <a:latin typeface="Calibri"/>
              </a:rPr>
              <a:t>①  Recognition coverage &amp; accuracy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783080"/>
          <a:ext cx="539496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FF6B35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 marL="73152" marR="73152" marT="18288" marB="18288"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FF6B35"/>
                          </a:solidFill>
                          <a:latin typeface="Calibri"/>
                        </a:rPr>
                        <a:t>Before (M2)</a:t>
                      </a:r>
                    </a:p>
                  </a:txBody>
                  <a:tcPr marL="73152" marR="73152" marT="18288" marB="18288"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FF6B35"/>
                          </a:solidFill>
                          <a:latin typeface="Calibri"/>
                        </a:rPr>
                        <a:t>After</a:t>
                      </a:r>
                    </a:p>
                  </a:txBody>
                  <a:tcPr marL="73152" marR="73152" marT="18288" marB="18288" anchor="ctr"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F0F0F0"/>
                          </a:solidFill>
                          <a:latin typeface="Calibri"/>
                        </a:rPr>
                        <a:t>Recognizable items</a:t>
                      </a:r>
                    </a:p>
                  </a:txBody>
                  <a:tcPr marL="73152" marR="73152" marT="18288" marB="18288"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9AA0A6"/>
                          </a:solidFill>
                          <a:latin typeface="Calibri"/>
                        </a:rPr>
                        <a:t>10 classes</a:t>
                      </a:r>
                    </a:p>
                  </a:txBody>
                  <a:tcPr marL="73152" marR="73152" marT="18288" marB="18288"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3FC97E"/>
                          </a:solidFill>
                          <a:latin typeface="Calibri"/>
                        </a:rPr>
                        <a:t>arbitrary</a:t>
                      </a:r>
                    </a:p>
                  </a:txBody>
                  <a:tcPr marL="73152" marR="73152" marT="18288" marB="18288" anchor="ctr">
                    <a:solidFill>
                      <a:srgbClr val="2222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F0F0F0"/>
                          </a:solidFill>
                          <a:latin typeface="Calibri"/>
                        </a:rPr>
                        <a:t>Plastic / hand-held / glare</a:t>
                      </a:r>
                    </a:p>
                  </a:txBody>
                  <a:tcPr marL="73152" marR="73152" marT="18288" marB="18288" anchor="ctr"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9AA0A6"/>
                          </a:solidFill>
                          <a:latin typeface="Calibri"/>
                        </a:rPr>
                        <a:t>Uncertain 0.37</a:t>
                      </a:r>
                    </a:p>
                  </a:txBody>
                  <a:tcPr marL="73152" marR="73152" marT="18288" marB="18288" anchor="ctr"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3FC97E"/>
                          </a:solidFill>
                          <a:latin typeface="Calibri"/>
                        </a:rPr>
                        <a:t>correct 0.95</a:t>
                      </a:r>
                    </a:p>
                  </a:txBody>
                  <a:tcPr marL="73152" marR="73152" marT="18288" marB="18288" anchor="ctr">
                    <a:solidFill>
                      <a:srgbClr val="1818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F0F0F0"/>
                          </a:solidFill>
                          <a:latin typeface="Calibri"/>
                        </a:rPr>
                        <a:t>Lock threshold</a:t>
                      </a:r>
                    </a:p>
                  </a:txBody>
                  <a:tcPr marL="73152" marR="73152" marT="18288" marB="18288"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9AA0A6"/>
                          </a:solidFill>
                          <a:latin typeface="Calibri"/>
                        </a:rPr>
                        <a:t>0.80</a:t>
                      </a:r>
                    </a:p>
                  </a:txBody>
                  <a:tcPr marL="73152" marR="73152" marT="18288" marB="18288"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3FC97E"/>
                          </a:solidFill>
                          <a:latin typeface="Calibri"/>
                        </a:rPr>
                        <a:t>0.90</a:t>
                      </a:r>
                    </a:p>
                  </a:txBody>
                  <a:tcPr marL="73152" marR="73152" marT="18288" marB="18288" anchor="ctr">
                    <a:solidFill>
                      <a:srgbClr val="2222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F0F0F0"/>
                          </a:solidFill>
                          <a:latin typeface="Calibri"/>
                        </a:rPr>
                        <a:t>Out-of-class result</a:t>
                      </a:r>
                    </a:p>
                  </a:txBody>
                  <a:tcPr marL="73152" marR="73152" marT="18288" marB="18288" anchor="ctr"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9AA0A6"/>
                          </a:solidFill>
                          <a:latin typeface="Calibri"/>
                        </a:rPr>
                        <a:t>"Unknown"</a:t>
                      </a:r>
                    </a:p>
                  </a:txBody>
                  <a:tcPr marL="73152" marR="73152" marT="18288" marB="18288" anchor="ctr"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3FC97E"/>
                          </a:solidFill>
                          <a:latin typeface="Calibri"/>
                        </a:rPr>
                        <a:t>named (LLM)</a:t>
                      </a:r>
                    </a:p>
                  </a:txBody>
                  <a:tcPr marL="73152" marR="73152" marT="18288" marB="18288" anchor="ctr">
                    <a:solidFill>
                      <a:srgbClr val="1818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263640" y="1417320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F0F0F0"/>
                </a:solidFill>
                <a:latin typeface="Calibri"/>
              </a:rPr>
              <a:t>②  Latency &amp; capture quality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217920" y="1783080"/>
          <a:ext cx="539496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FF6B35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 marL="73152" marR="73152" marT="18288" marB="18288"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FF6B35"/>
                          </a:solidFill>
                          <a:latin typeface="Calibri"/>
                        </a:rPr>
                        <a:t>Before (M2)</a:t>
                      </a:r>
                    </a:p>
                  </a:txBody>
                  <a:tcPr marL="73152" marR="73152" marT="18288" marB="18288"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FF6B35"/>
                          </a:solidFill>
                          <a:latin typeface="Calibri"/>
                        </a:rPr>
                        <a:t>After</a:t>
                      </a:r>
                    </a:p>
                  </a:txBody>
                  <a:tcPr marL="73152" marR="73152" marT="18288" marB="18288" anchor="ctr"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F0F0F0"/>
                          </a:solidFill>
                          <a:latin typeface="Calibri"/>
                        </a:rPr>
                        <a:t>Local window → fallback</a:t>
                      </a:r>
                    </a:p>
                  </a:txBody>
                  <a:tcPr marL="73152" marR="73152" marT="18288" marB="18288"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9AA0A6"/>
                          </a:solidFill>
                          <a:latin typeface="Calibri"/>
                        </a:rPr>
                        <a:t>20 s</a:t>
                      </a:r>
                    </a:p>
                  </a:txBody>
                  <a:tcPr marL="73152" marR="73152" marT="18288" marB="18288"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3FC97E"/>
                          </a:solidFill>
                          <a:latin typeface="Calibri"/>
                        </a:rPr>
                        <a:t>5 s</a:t>
                      </a:r>
                    </a:p>
                  </a:txBody>
                  <a:tcPr marL="73152" marR="73152" marT="18288" marB="18288" anchor="ctr">
                    <a:solidFill>
                      <a:srgbClr val="2222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F0F0F0"/>
                          </a:solidFill>
                          <a:latin typeface="Calibri"/>
                        </a:rPr>
                        <a:t>Cloud recognize latency</a:t>
                      </a:r>
                    </a:p>
                  </a:txBody>
                  <a:tcPr marL="73152" marR="73152" marT="18288" marB="18288" anchor="ctr"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9AA0A6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73152" marT="18288" marB="18288" anchor="ctr"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3FC97E"/>
                          </a:solidFill>
                          <a:latin typeface="Calibri"/>
                        </a:rPr>
                        <a:t>1.2–2.7 s</a:t>
                      </a:r>
                    </a:p>
                  </a:txBody>
                  <a:tcPr marL="73152" marR="73152" marT="18288" marB="18288" anchor="ctr">
                    <a:solidFill>
                      <a:srgbClr val="1818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F0F0F0"/>
                          </a:solidFill>
                          <a:latin typeface="Calibri"/>
                        </a:rPr>
                        <a:t>Capture quality (lower=better)</a:t>
                      </a:r>
                    </a:p>
                  </a:txBody>
                  <a:tcPr marL="73152" marR="73152" marT="18288" marB="18288"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9AA0A6"/>
                          </a:solidFill>
                          <a:latin typeface="Calibri"/>
                        </a:rPr>
                        <a:t>q12</a:t>
                      </a:r>
                    </a:p>
                  </a:txBody>
                  <a:tcPr marL="73152" marR="73152" marT="18288" marB="18288"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3FC97E"/>
                          </a:solidFill>
                          <a:latin typeface="Calibri"/>
                        </a:rPr>
                        <a:t>q6</a:t>
                      </a:r>
                    </a:p>
                  </a:txBody>
                  <a:tcPr marL="73152" marR="73152" marT="18288" marB="18288" anchor="ctr">
                    <a:solidFill>
                      <a:srgbClr val="2222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F0F0F0"/>
                          </a:solidFill>
                          <a:latin typeface="Calibri"/>
                        </a:rPr>
                        <a:t>Camera overflow (FB-OVF)</a:t>
                      </a:r>
                    </a:p>
                  </a:txBody>
                  <a:tcPr marL="73152" marR="73152" marT="18288" marB="18288" anchor="ctr"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9AA0A6"/>
                          </a:solidFill>
                          <a:latin typeface="Calibri"/>
                        </a:rPr>
                        <a:t>on q&lt;init</a:t>
                      </a:r>
                    </a:p>
                  </a:txBody>
                  <a:tcPr marL="73152" marR="73152" marT="18288" marB="18288" anchor="ctr"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3FC97E"/>
                          </a:solidFill>
                          <a:latin typeface="Calibri"/>
                        </a:rPr>
                        <a:t>eliminated</a:t>
                      </a:r>
                    </a:p>
                  </a:txBody>
                  <a:tcPr marL="73152" marR="73152" marT="18288" marB="18288" anchor="ctr">
                    <a:solidFill>
                      <a:srgbClr val="1818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48640" y="4160520"/>
            <a:ext cx="11064240" cy="1965960"/>
          </a:xfrm>
          <a:prstGeom prst="roundRect">
            <a:avLst>
              <a:gd name="adj" fmla="val 6000"/>
            </a:avLst>
          </a:prstGeom>
          <a:solidFill>
            <a:srgbClr val="1A1A1A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4315968"/>
            <a:ext cx="1060704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600" b="1" i="0">
                <a:solidFill>
                  <a:srgbClr val="00C896"/>
                </a:solidFill>
                <a:latin typeface="Calibri"/>
              </a:rPr>
              <a:t>Qualitative analysis</a:t>
            </a:r>
          </a:p>
          <a:p>
            <a:pPr>
              <a:spcBef>
                <a:spcPts val="500"/>
              </a:spcBef>
            </a:pPr>
            <a:r>
              <a:rPr sz="1250" b="1" i="0">
                <a:solidFill>
                  <a:srgbClr val="FF6B35"/>
                </a:solidFill>
                <a:latin typeface="Calibri"/>
              </a:rPr>
              <a:t>•  </a:t>
            </a:r>
            <a:r>
              <a:rPr sz="1250" b="1" i="0">
                <a:solidFill>
                  <a:srgbClr val="F0F0F0"/>
                </a:solidFill>
                <a:latin typeface="Calibri"/>
              </a:rPr>
              <a:t>Coverage: </a:t>
            </a:r>
            <a:r>
              <a:rPr sz="1250" b="0" i="0">
                <a:solidFill>
                  <a:srgbClr val="9AA0A6"/>
                </a:solidFill>
                <a:latin typeface="Calibri"/>
              </a:rPr>
              <a:t>the on-device model knew only 10 classes and rejected the rest; the LLM fallback makes recognition open-vocabulary while keeping the fast offline path for common items.</a:t>
            </a:r>
          </a:p>
          <a:p>
            <a:pPr>
              <a:spcBef>
                <a:spcPts val="500"/>
              </a:spcBef>
            </a:pPr>
            <a:r>
              <a:rPr sz="1250" b="1" i="0">
                <a:solidFill>
                  <a:srgbClr val="FF6B35"/>
                </a:solidFill>
                <a:latin typeface="Calibri"/>
              </a:rPr>
              <a:t>•  </a:t>
            </a:r>
            <a:r>
              <a:rPr sz="1250" b="1" i="0">
                <a:solidFill>
                  <a:srgbClr val="F0F0F0"/>
                </a:solidFill>
                <a:latin typeface="Calibri"/>
              </a:rPr>
              <a:t>Robustness: </a:t>
            </a:r>
            <a:r>
              <a:rPr sz="1250" b="0" i="0">
                <a:solidFill>
                  <a:srgbClr val="9AA0A6"/>
                </a:solidFill>
                <a:latin typeface="Calibri"/>
              </a:rPr>
              <a:t>on hard inputs Baidu scored 0.37→Uncertain while Claude Vision returned the correct item at 0.95; the 0.90 lock also cuts false on-device locks.</a:t>
            </a:r>
          </a:p>
          <a:p>
            <a:pPr>
              <a:spcBef>
                <a:spcPts val="500"/>
              </a:spcBef>
            </a:pPr>
            <a:r>
              <a:rPr sz="1250" b="1" i="0">
                <a:solidFill>
                  <a:srgbClr val="FF6B35"/>
                </a:solidFill>
                <a:latin typeface="Calibri"/>
              </a:rPr>
              <a:t>•  </a:t>
            </a:r>
            <a:r>
              <a:rPr sz="1250" b="1" i="0">
                <a:solidFill>
                  <a:srgbClr val="F0F0F0"/>
                </a:solidFill>
                <a:latin typeface="Calibri"/>
              </a:rPr>
              <a:t>Responsiveness: </a:t>
            </a:r>
            <a:r>
              <a:rPr sz="1250" b="0" i="0">
                <a:solidFill>
                  <a:srgbClr val="9AA0A6"/>
                </a:solidFill>
                <a:latin typeface="Calibri"/>
              </a:rPr>
              <a:t>cutting the local window 20s→5s reaches a cloud answer sooner for off-list items, and higher-quality capture improves OCR + produce accuracy with no overflow.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55664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alibri"/>
              </a:rPr>
              <a:t>SnapChef · GIX 2026 Spring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55664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FF6B35"/>
                </a:solidFill>
                <a:latin typeface="Calibri"/>
              </a:rPr>
              <a:t>READINESS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000" b="1" i="0">
                <a:solidFill>
                  <a:srgbClr val="00C896"/>
                </a:solidFill>
                <a:latin typeface="Calibri"/>
              </a:rPr>
              <a:t>End-to-end runs &amp; cross-condition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5669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F0F0F0"/>
                </a:solidFill>
                <a:latin typeface="Calibri"/>
              </a:rPr>
              <a:t>E2E pipeline — 2 consecutive runs (full device)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58521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9AA0A6"/>
                </a:solidFill>
                <a:latin typeface="Calibri"/>
              </a:rPr>
              <a:t>camera → ESP-NOW → cloud → result shown on the display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2148840"/>
          <a:ext cx="539496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6720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FF6B35"/>
                          </a:solidFill>
                          <a:latin typeface="Calibri"/>
                        </a:rPr>
                        <a:t>Run</a:t>
                      </a:r>
                    </a:p>
                  </a:txBody>
                  <a:tcPr marL="73152" marR="73152" marT="18288" marB="18288"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FF6B35"/>
                          </a:solidFill>
                          <a:latin typeface="Calibri"/>
                        </a:rPr>
                        <a:t>Input</a:t>
                      </a:r>
                    </a:p>
                  </a:txBody>
                  <a:tcPr marL="73152" marR="73152" marT="18288" marB="18288"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 i="0">
                          <a:solidFill>
                            <a:srgbClr val="FF6B35"/>
                          </a:solidFill>
                          <a:latin typeface="Calibri"/>
                        </a:rPr>
                        <a:t>Latency</a:t>
                      </a:r>
                    </a:p>
                  </a:txBody>
                  <a:tcPr marL="73152" marR="73152" marT="18288" marB="18288"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FF6B35"/>
                          </a:solidFill>
                          <a:latin typeface="Calibri"/>
                        </a:rPr>
                        <a:t>Result</a:t>
                      </a:r>
                    </a:p>
                  </a:txBody>
                  <a:tcPr marL="73152" marR="73152" marT="18288" marB="18288" anchor="ctr"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F0F0F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 marT="18288" marB="18288"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F0F0F0"/>
                          </a:solidFill>
                          <a:latin typeface="Calibri"/>
                        </a:rPr>
                        <a:t>OOD corn (off-list)</a:t>
                      </a:r>
                    </a:p>
                  </a:txBody>
                  <a:tcPr marL="73152" marR="73152" marT="18288" marB="18288"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 i="0">
                          <a:solidFill>
                            <a:srgbClr val="9AA0A6"/>
                          </a:solidFill>
                          <a:latin typeface="Calibri"/>
                        </a:rPr>
                        <a:t>2.1 s</a:t>
                      </a:r>
                    </a:p>
                  </a:txBody>
                  <a:tcPr marL="73152" marR="73152" marT="18288" marB="18288"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3FC97E"/>
                          </a:solidFill>
                          <a:latin typeface="Calibri"/>
                        </a:rPr>
                        <a:t>Corn 0.95 ✓</a:t>
                      </a:r>
                    </a:p>
                  </a:txBody>
                  <a:tcPr marL="73152" marR="73152" marT="18288" marB="18288" anchor="ctr">
                    <a:solidFill>
                      <a:srgbClr val="2222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F0F0F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R="73152" marT="18288" marB="18288" anchor="ctr"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F0F0F0"/>
                          </a:solidFill>
                          <a:latin typeface="Calibri"/>
                        </a:rPr>
                        <a:t>bell pepper</a:t>
                      </a:r>
                    </a:p>
                  </a:txBody>
                  <a:tcPr marL="73152" marR="73152" marT="18288" marB="18288" anchor="ctr"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 i="0">
                          <a:solidFill>
                            <a:srgbClr val="9AA0A6"/>
                          </a:solidFill>
                          <a:latin typeface="Calibri"/>
                        </a:rPr>
                        <a:t>1.3 s</a:t>
                      </a:r>
                    </a:p>
                  </a:txBody>
                  <a:tcPr marL="73152" marR="73152" marT="18288" marB="18288" anchor="ctr"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3FC97E"/>
                          </a:solidFill>
                          <a:latin typeface="Calibri"/>
                        </a:rPr>
                        <a:t>Pepper 0.85 ✓</a:t>
                      </a:r>
                    </a:p>
                  </a:txBody>
                  <a:tcPr marL="73152" marR="73152" marT="18288" marB="18288" anchor="ctr">
                    <a:solidFill>
                      <a:srgbClr val="1818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3611880"/>
            <a:ext cx="5760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9AA0A6"/>
                </a:solidFill>
                <a:latin typeface="Calibri"/>
              </a:rPr>
              <a:t>Display device now built &amp; running — both runs completed the full pipeline and rendered on-screen.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463040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F0F0F0"/>
                </a:solidFill>
                <a:latin typeface="Calibri"/>
              </a:rPr>
              <a:t>Cross-condition results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309360" y="1783080"/>
          <a:ext cx="530352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FF6B35"/>
                          </a:solidFill>
                          <a:latin typeface="Calibri"/>
                        </a:rPr>
                        <a:t>Condition</a:t>
                      </a:r>
                    </a:p>
                  </a:txBody>
                  <a:tcPr marL="73152" marR="73152" marT="18288" marB="18288"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FF6B35"/>
                          </a:solidFill>
                          <a:latin typeface="Calibri"/>
                        </a:rPr>
                        <a:t>Input</a:t>
                      </a:r>
                    </a:p>
                  </a:txBody>
                  <a:tcPr marL="73152" marR="73152" marT="18288" marB="18288"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FF6B35"/>
                          </a:solidFill>
                          <a:latin typeface="Calibri"/>
                        </a:rPr>
                        <a:t>Outcome</a:t>
                      </a:r>
                    </a:p>
                  </a:txBody>
                  <a:tcPr marL="73152" marR="73152" marT="18288" marB="18288" anchor="ctr"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F0F0F0"/>
                          </a:solidFill>
                          <a:latin typeface="Calibri"/>
                        </a:rPr>
                        <a:t>Real produce</a:t>
                      </a:r>
                    </a:p>
                  </a:txBody>
                  <a:tcPr marL="73152" marR="73152" marT="18288" marB="18288"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9AA0A6"/>
                          </a:solidFill>
                          <a:latin typeface="Calibri"/>
                        </a:rPr>
                        <a:t>ripe tomato</a:t>
                      </a:r>
                    </a:p>
                  </a:txBody>
                  <a:tcPr marL="73152" marR="73152" marT="18288" marB="18288"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FC97E"/>
                          </a:solidFill>
                          <a:latin typeface="Calibri"/>
                        </a:rPr>
                        <a:t>Tomato 0.88 ✓</a:t>
                      </a:r>
                    </a:p>
                  </a:txBody>
                  <a:tcPr marL="73152" marR="73152" marT="18288" marB="18288" anchor="ctr">
                    <a:solidFill>
                      <a:srgbClr val="2222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F0F0F0"/>
                          </a:solidFill>
                          <a:latin typeface="Calibri"/>
                        </a:rPr>
                        <a:t>OOD produce</a:t>
                      </a:r>
                    </a:p>
                  </a:txBody>
                  <a:tcPr marL="73152" marR="73152" marT="18288" marB="18288" anchor="ctr"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9AA0A6"/>
                          </a:solidFill>
                          <a:latin typeface="Calibri"/>
                        </a:rPr>
                        <a:t>corn (off-list)</a:t>
                      </a:r>
                    </a:p>
                  </a:txBody>
                  <a:tcPr marL="73152" marR="73152" marT="18288" marB="18288" anchor="ctr"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FC97E"/>
                          </a:solidFill>
                          <a:latin typeface="Calibri"/>
                        </a:rPr>
                        <a:t>Corn 0.95 ✓</a:t>
                      </a:r>
                    </a:p>
                  </a:txBody>
                  <a:tcPr marL="73152" marR="73152" marT="18288" marB="18288" anchor="ctr">
                    <a:solidFill>
                      <a:srgbClr val="1818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F0F0F0"/>
                          </a:solidFill>
                          <a:latin typeface="Calibri"/>
                        </a:rPr>
                        <a:t>Hand-held / glare</a:t>
                      </a:r>
                    </a:p>
                  </a:txBody>
                  <a:tcPr marL="73152" marR="73152" marT="18288" marB="18288"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9AA0A6"/>
                          </a:solidFill>
                          <a:latin typeface="Calibri"/>
                        </a:rPr>
                        <a:t>bell pepper</a:t>
                      </a:r>
                    </a:p>
                  </a:txBody>
                  <a:tcPr marL="73152" marR="73152" marT="18288" marB="18288"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FC97E"/>
                          </a:solidFill>
                          <a:latin typeface="Calibri"/>
                        </a:rPr>
                        <a:t>Pepper 0.85 ✓</a:t>
                      </a:r>
                    </a:p>
                  </a:txBody>
                  <a:tcPr marL="73152" marR="73152" marT="18288" marB="18288" anchor="ctr">
                    <a:solidFill>
                      <a:srgbClr val="2222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F0F0F0"/>
                          </a:solidFill>
                          <a:latin typeface="Calibri"/>
                        </a:rPr>
                        <a:t>Non-produce</a:t>
                      </a:r>
                    </a:p>
                  </a:txBody>
                  <a:tcPr marL="73152" marR="73152" marT="18288" marB="18288" anchor="ctr"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9AA0A6"/>
                          </a:solidFill>
                          <a:latin typeface="Calibri"/>
                        </a:rPr>
                        <a:t>water bottle</a:t>
                      </a:r>
                    </a:p>
                  </a:txBody>
                  <a:tcPr marL="73152" marR="73152" marT="18288" marB="18288" anchor="ctr"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FF6B6B"/>
                          </a:solidFill>
                          <a:latin typeface="Calibri"/>
                        </a:rPr>
                        <a:t>Okra 0.75 ✗</a:t>
                      </a:r>
                    </a:p>
                  </a:txBody>
                  <a:tcPr marL="73152" marR="73152" marT="18288" marB="18288" anchor="ctr">
                    <a:solidFill>
                      <a:srgbClr val="1818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F0F0F0"/>
                          </a:solidFill>
                          <a:latin typeface="Calibri"/>
                        </a:rPr>
                        <a:t>Diff device / user</a:t>
                      </a:r>
                    </a:p>
                  </a:txBody>
                  <a:tcPr marL="73152" marR="73152" marT="18288" marB="18288"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9AA0A6"/>
                          </a:solidFill>
                          <a:latin typeface="Calibri"/>
                        </a:rPr>
                        <a:t>2 boards, 2 IPs</a:t>
                      </a:r>
                    </a:p>
                  </a:txBody>
                  <a:tcPr marL="73152" marR="73152" marT="18288" marB="18288"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FC97E"/>
                          </a:solidFill>
                          <a:latin typeface="Calibri"/>
                        </a:rPr>
                        <a:t>both 200 ✓</a:t>
                      </a:r>
                    </a:p>
                  </a:txBody>
                  <a:tcPr marL="73152" marR="73152" marT="18288" marB="18288" anchor="ctr">
                    <a:solidFill>
                      <a:srgbClr val="2222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09360" y="4370832"/>
            <a:ext cx="5303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9AA0A6"/>
                </a:solidFill>
                <a:latin typeface="Calibri"/>
              </a:rPr>
              <a:t>OOD = outside the 10 on-device classes — handled by the LLM fallback. Names normalized: Red Pepper → Pepper.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892040"/>
            <a:ext cx="11064240" cy="1234440"/>
          </a:xfrm>
          <a:prstGeom prst="roundRect">
            <a:avLst>
              <a:gd name="adj" fmla="val 6000"/>
            </a:avLst>
          </a:prstGeom>
          <a:solidFill>
            <a:srgbClr val="1A1A1A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5029200"/>
            <a:ext cx="106070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500" b="1" i="0">
                <a:solidFill>
                  <a:srgbClr val="00C896"/>
                </a:solidFill>
                <a:latin typeface="Calibri"/>
              </a:rPr>
              <a:t>Status summary</a:t>
            </a:r>
          </a:p>
          <a:p>
            <a:pPr>
              <a:spcBef>
                <a:spcPts val="400"/>
              </a:spcBef>
            </a:pPr>
            <a:r>
              <a:rPr sz="1250" b="1" i="0">
                <a:solidFill>
                  <a:srgbClr val="3FC97E"/>
                </a:solidFill>
                <a:latin typeface="Calibri"/>
              </a:rPr>
              <a:t>Proven: </a:t>
            </a:r>
            <a:r>
              <a:rPr sz="1250" b="0" i="0">
                <a:solidFill>
                  <a:srgbClr val="F0F0F0"/>
                </a:solidFill>
                <a:latin typeface="Calibri"/>
              </a:rPr>
              <a:t>full device E2E (camera→cloud→display), ESP-NOW link, produce-LLM &amp; receipt endpoints, on-device TFLM, inventory v2.   </a:t>
            </a:r>
          </a:p>
          <a:p>
            <a:pPr>
              <a:spcBef>
                <a:spcPts val="200"/>
              </a:spcBef>
            </a:pPr>
            <a:r>
              <a:rPr sz="1250" b="1" i="0">
                <a:solidFill>
                  <a:srgbClr val="E6C25A"/>
                </a:solidFill>
                <a:latin typeface="Calibri"/>
              </a:rPr>
              <a:t>In progress: </a:t>
            </a:r>
            <a:r>
              <a:rPr sz="1250" b="0" i="0">
                <a:solidFill>
                  <a:srgbClr val="F0F0F0"/>
                </a:solidFill>
                <a:latin typeface="Calibri"/>
              </a:rPr>
              <a:t>recipe used/missing UI &amp; /recipes endpoints.   </a:t>
            </a:r>
            <a:r>
              <a:rPr sz="1250" b="1" i="0">
                <a:solidFill>
                  <a:srgbClr val="FF6B35"/>
                </a:solidFill>
                <a:latin typeface="Calibri"/>
              </a:rPr>
              <a:t>Known gap: </a:t>
            </a:r>
            <a:r>
              <a:rPr sz="1250" b="0" i="0">
                <a:solidFill>
                  <a:srgbClr val="F0F0F0"/>
                </a:solidFill>
                <a:latin typeface="Calibri"/>
              </a:rPr>
              <a:t>non-produce over-recognition → backend Uncertain rules + vocab.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55664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alibri"/>
              </a:rPr>
              <a:t>SnapChef · GIX 2026 Spring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55664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FF6B35"/>
                </a:solidFill>
                <a:latin typeface="Calibri"/>
              </a:rPr>
              <a:t>BUDGET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000" b="1" i="0">
                <a:solidFill>
                  <a:srgbClr val="00C896"/>
                </a:solidFill>
                <a:latin typeface="Calibri"/>
              </a:rPr>
              <a:t>Spend to date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50" b="0" i="0">
                <a:solidFill>
                  <a:srgbClr val="9AA0A6"/>
                </a:solidFill>
                <a:latin typeface="Calibri"/>
              </a:rPr>
              <a:t>Unit prices are typical retail estimates — </a:t>
            </a:r>
            <a:r>
              <a:rPr sz="1300" b="1" i="0">
                <a:solidFill>
                  <a:srgbClr val="FFDF8A"/>
                </a:solidFill>
                <a:latin typeface="Calibri"/>
              </a:rPr>
              <a:t> replace with actual receipts 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874519"/>
          <a:ext cx="1106424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5433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6B35"/>
                          </a:solidFill>
                          <a:latin typeface="Calibri"/>
                        </a:rPr>
                        <a:t>Item</a:t>
                      </a:r>
                    </a:p>
                  </a:txBody>
                  <a:tcPr marL="73152" marR="73152" marT="18288" marB="18288"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 i="0">
                          <a:solidFill>
                            <a:srgbClr val="FF6B35"/>
                          </a:solidFill>
                          <a:latin typeface="Calibri"/>
                        </a:rPr>
                        <a:t>Qty</a:t>
                      </a:r>
                    </a:p>
                  </a:txBody>
                  <a:tcPr marL="73152" marR="73152" marT="18288" marB="18288"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 i="0">
                          <a:solidFill>
                            <a:srgbClr val="FF6B35"/>
                          </a:solidFill>
                          <a:latin typeface="Calibri"/>
                        </a:rPr>
                        <a:t>Unit (est.)</a:t>
                      </a:r>
                    </a:p>
                  </a:txBody>
                  <a:tcPr marL="73152" marR="73152" marT="18288" marB="18288"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 i="0">
                          <a:solidFill>
                            <a:srgbClr val="FF6B35"/>
                          </a:solidFill>
                          <a:latin typeface="Calibri"/>
                        </a:rPr>
                        <a:t>Subtotal</a:t>
                      </a:r>
                    </a:p>
                  </a:txBody>
                  <a:tcPr marL="73152" marR="73152" marT="18288" marB="18288"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6B35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marL="73152" marR="73152" marT="18288" marB="18288" anchor="ctr"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433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F0F0F0"/>
                          </a:solidFill>
                          <a:latin typeface="Calibri"/>
                        </a:rPr>
                        <a:t>Seeed XIAO ESP32S3 Sense (incl. camera)</a:t>
                      </a:r>
                    </a:p>
                  </a:txBody>
                  <a:tcPr marL="73152" marR="73152" marT="18288" marB="18288"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9AA0A6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 marT="18288" marB="18288"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9AA0A6"/>
                          </a:solidFill>
                          <a:latin typeface="Calibri"/>
                        </a:rPr>
                        <a:t>$23.99</a:t>
                      </a:r>
                    </a:p>
                  </a:txBody>
                  <a:tcPr marL="73152" marR="73152" marT="18288" marB="18288"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F0F0F0"/>
                          </a:solidFill>
                          <a:latin typeface="Calibri"/>
                        </a:rPr>
                        <a:t>$23.99</a:t>
                      </a:r>
                    </a:p>
                  </a:txBody>
                  <a:tcPr marL="73152" marR="73152" marT="18288" marB="18288"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3FC97E"/>
                          </a:solidFill>
                          <a:latin typeface="Calibri"/>
                        </a:rPr>
                        <a:t>purchased</a:t>
                      </a:r>
                    </a:p>
                  </a:txBody>
                  <a:tcPr marL="73152" marR="73152" marT="18288" marB="18288" anchor="ctr">
                    <a:solidFill>
                      <a:srgbClr val="2222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433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F0F0F0"/>
                          </a:solidFill>
                          <a:latin typeface="Calibri"/>
                        </a:rPr>
                        <a:t>Waveshare ESP32-S3-Touch-LCD-4.3</a:t>
                      </a:r>
                    </a:p>
                  </a:txBody>
                  <a:tcPr marL="73152" marR="73152" marT="18288" marB="18288" anchor="ctr"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9AA0A6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 marT="18288" marB="18288" anchor="ctr"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9AA0A6"/>
                          </a:solidFill>
                          <a:latin typeface="Calibri"/>
                        </a:rPr>
                        <a:t>$45.99</a:t>
                      </a:r>
                    </a:p>
                  </a:txBody>
                  <a:tcPr marL="73152" marR="73152" marT="18288" marB="18288" anchor="ctr"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F0F0F0"/>
                          </a:solidFill>
                          <a:latin typeface="Calibri"/>
                        </a:rPr>
                        <a:t>$45.99</a:t>
                      </a:r>
                    </a:p>
                  </a:txBody>
                  <a:tcPr marL="73152" marR="73152" marT="18288" marB="18288" anchor="ctr"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3FC97E"/>
                          </a:solidFill>
                          <a:latin typeface="Calibri"/>
                        </a:rPr>
                        <a:t>purchased</a:t>
                      </a:r>
                    </a:p>
                  </a:txBody>
                  <a:tcPr marL="73152" marR="73152" marT="18288" marB="18288" anchor="ctr">
                    <a:solidFill>
                      <a:srgbClr val="1818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433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F0F0F0"/>
                          </a:solidFill>
                          <a:latin typeface="Calibri"/>
                        </a:rPr>
                        <a:t>HC-SR04 ultrasonic sensor</a:t>
                      </a:r>
                    </a:p>
                  </a:txBody>
                  <a:tcPr marL="73152" marR="73152" marT="18288" marB="18288"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9AA0A6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 marT="18288" marB="18288"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9AA0A6"/>
                          </a:solidFill>
                          <a:latin typeface="Calibri"/>
                        </a:rPr>
                        <a:t>$3.50</a:t>
                      </a:r>
                    </a:p>
                  </a:txBody>
                  <a:tcPr marL="73152" marR="73152" marT="18288" marB="18288"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F0F0F0"/>
                          </a:solidFill>
                          <a:latin typeface="Calibri"/>
                        </a:rPr>
                        <a:t>$3.50</a:t>
                      </a:r>
                    </a:p>
                  </a:txBody>
                  <a:tcPr marL="73152" marR="73152" marT="18288" marB="18288"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3FC97E"/>
                          </a:solidFill>
                          <a:latin typeface="Calibri"/>
                        </a:rPr>
                        <a:t>purchased</a:t>
                      </a:r>
                    </a:p>
                  </a:txBody>
                  <a:tcPr marL="73152" marR="73152" marT="18288" marB="18288" anchor="ctr">
                    <a:solidFill>
                      <a:srgbClr val="2222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433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F0F0F0"/>
                          </a:solidFill>
                          <a:latin typeface="Calibri"/>
                        </a:rPr>
                        <a:t>Wires, resistor divider, misc.</a:t>
                      </a:r>
                    </a:p>
                  </a:txBody>
                  <a:tcPr marL="73152" marR="73152" marT="18288" marB="18288" anchor="ctr"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9AA0A6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 marT="18288" marB="18288" anchor="ctr"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9AA0A6"/>
                          </a:solidFill>
                          <a:latin typeface="Calibri"/>
                        </a:rPr>
                        <a:t>$5.00</a:t>
                      </a:r>
                    </a:p>
                  </a:txBody>
                  <a:tcPr marL="73152" marR="73152" marT="18288" marB="18288" anchor="ctr"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F0F0F0"/>
                          </a:solidFill>
                          <a:latin typeface="Calibri"/>
                        </a:rPr>
                        <a:t>$5.00</a:t>
                      </a:r>
                    </a:p>
                  </a:txBody>
                  <a:tcPr marL="73152" marR="73152" marT="18288" marB="18288" anchor="ctr"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3FC97E"/>
                          </a:solidFill>
                          <a:latin typeface="Calibri"/>
                        </a:rPr>
                        <a:t>purchased</a:t>
                      </a:r>
                    </a:p>
                  </a:txBody>
                  <a:tcPr marL="73152" marR="73152" marT="18288" marB="18288" anchor="ctr">
                    <a:solidFill>
                      <a:srgbClr val="1818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433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F0F0F0"/>
                          </a:solidFill>
                          <a:latin typeface="Calibri"/>
                        </a:rPr>
                        <a:t>Railway hosting (backend)</a:t>
                      </a:r>
                    </a:p>
                  </a:txBody>
                  <a:tcPr marL="73152" marR="73152" marT="18288" marB="18288"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9AA0A6"/>
                          </a:solidFill>
                          <a:latin typeface="Calibri"/>
                        </a:rPr>
                        <a:t>~1 mo</a:t>
                      </a:r>
                    </a:p>
                  </a:txBody>
                  <a:tcPr marL="73152" marR="73152" marT="18288" marB="18288"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9AA0A6"/>
                          </a:solidFill>
                          <a:latin typeface="Calibri"/>
                        </a:rPr>
                        <a:t>$5.00</a:t>
                      </a:r>
                    </a:p>
                  </a:txBody>
                  <a:tcPr marL="73152" marR="73152" marT="18288" marB="18288"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F0F0F0"/>
                          </a:solidFill>
                          <a:latin typeface="Calibri"/>
                        </a:rPr>
                        <a:t>$5.00</a:t>
                      </a:r>
                    </a:p>
                  </a:txBody>
                  <a:tcPr marL="73152" marR="73152" marT="18288" marB="18288"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E6C25A"/>
                          </a:solidFill>
                          <a:latin typeface="Calibri"/>
                        </a:rPr>
                        <a:t>recurring</a:t>
                      </a:r>
                    </a:p>
                  </a:txBody>
                  <a:tcPr marL="73152" marR="73152" marT="18288" marB="18288" anchor="ctr">
                    <a:solidFill>
                      <a:srgbClr val="2222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433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F0F0F0"/>
                          </a:solidFill>
                          <a:latin typeface="Calibri"/>
                        </a:rPr>
                        <a:t>Claude / Baidu / Textract API</a:t>
                      </a:r>
                    </a:p>
                  </a:txBody>
                  <a:tcPr marL="73152" marR="73152" marT="18288" marB="18288" anchor="ctr"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9AA0A6"/>
                          </a:solidFill>
                          <a:latin typeface="Calibri"/>
                        </a:rPr>
                        <a:t>usage</a:t>
                      </a:r>
                    </a:p>
                  </a:txBody>
                  <a:tcPr marL="73152" marR="73152" marT="18288" marB="18288" anchor="ctr"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9AA0A6"/>
                          </a:solidFill>
                          <a:latin typeface="Calibri"/>
                        </a:rPr>
                        <a:t>~$0–10</a:t>
                      </a:r>
                    </a:p>
                  </a:txBody>
                  <a:tcPr marL="73152" marR="73152" marT="18288" marB="18288" anchor="ctr"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F0F0F0"/>
                          </a:solidFill>
                          <a:latin typeface="Calibri"/>
                        </a:rPr>
                        <a:t>~$5.00</a:t>
                      </a:r>
                    </a:p>
                  </a:txBody>
                  <a:tcPr marL="73152" marR="73152" marT="18288" marB="18288" anchor="ctr"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E6C25A"/>
                          </a:solidFill>
                          <a:latin typeface="Calibri"/>
                        </a:rPr>
                        <a:t>usage</a:t>
                      </a:r>
                    </a:p>
                  </a:txBody>
                  <a:tcPr marL="73152" marR="73152" marT="18288" marB="18288" anchor="ctr">
                    <a:solidFill>
                      <a:srgbClr val="1818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433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0F0F0"/>
                          </a:solidFill>
                          <a:latin typeface="Calibri"/>
                        </a:rPr>
                        <a:t>Total spent (est.)</a:t>
                      </a:r>
                    </a:p>
                  </a:txBody>
                  <a:tcPr marL="73152" marR="73152" marT="18288" marB="18288"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/>
                    </a:p>
                  </a:txBody>
                  <a:tcPr marL="73152" marR="73152" marT="18288" marB="18288"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/>
                    </a:p>
                  </a:txBody>
                  <a:tcPr marL="73152" marR="73152" marT="18288" marB="18288"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 i="0">
                          <a:solidFill>
                            <a:srgbClr val="00C896"/>
                          </a:solidFill>
                          <a:latin typeface="Calibri"/>
                        </a:rPr>
                        <a:t>≈ $88.48</a:t>
                      </a:r>
                    </a:p>
                  </a:txBody>
                  <a:tcPr marL="73152" marR="73152" marT="18288" marB="18288"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73152" marR="73152" marT="18288" marB="18288" anchor="ctr">
                    <a:solidFill>
                      <a:srgbClr val="2222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48640" y="4983480"/>
            <a:ext cx="3474720" cy="1097280"/>
          </a:xfrm>
          <a:prstGeom prst="roundRect">
            <a:avLst>
              <a:gd name="adj" fmla="val 6000"/>
            </a:avLst>
          </a:prstGeom>
          <a:solidFill>
            <a:srgbClr val="1A1A1A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5120640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F0F0F0"/>
                </a:solidFill>
                <a:latin typeface="Calibri"/>
              </a:rPr>
              <a:t>Total budget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440680"/>
            <a:ext cx="301752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200" b="1" i="0" dirty="0">
                <a:solidFill>
                  <a:srgbClr val="FFDF8A"/>
                </a:solidFill>
                <a:latin typeface="Calibri"/>
              </a:rPr>
              <a:t> </a:t>
            </a:r>
            <a:r>
              <a:rPr lang="en-US" sz="3200" b="1" i="0" dirty="0">
                <a:solidFill>
                  <a:srgbClr val="FFDF8A"/>
                </a:solidFill>
                <a:latin typeface="Calibri"/>
              </a:rPr>
              <a:t>$200</a:t>
            </a:r>
            <a:r>
              <a:rPr sz="3200" b="1" i="0" dirty="0">
                <a:solidFill>
                  <a:srgbClr val="FFDF8A"/>
                </a:solidFill>
                <a:latin typeface="Calibri"/>
              </a:rPr>
              <a:t> 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70248" y="4983480"/>
            <a:ext cx="3474720" cy="1097280"/>
          </a:xfrm>
          <a:prstGeom prst="roundRect">
            <a:avLst>
              <a:gd name="adj" fmla="val 6000"/>
            </a:avLst>
          </a:prstGeom>
          <a:solidFill>
            <a:srgbClr val="1A1A1A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498848" y="5120640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F0F0F0"/>
                </a:solidFill>
                <a:latin typeface="Calibri"/>
              </a:rPr>
              <a:t>Spent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98848" y="5440680"/>
            <a:ext cx="30175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000" b="1" i="0" dirty="0">
                <a:solidFill>
                  <a:srgbClr val="FF6B35"/>
                </a:solidFill>
                <a:latin typeface="Calibri"/>
              </a:rPr>
              <a:t>≈ $88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91856" y="4983480"/>
            <a:ext cx="3474720" cy="1097280"/>
          </a:xfrm>
          <a:prstGeom prst="roundRect">
            <a:avLst>
              <a:gd name="adj" fmla="val 6000"/>
            </a:avLst>
          </a:prstGeom>
          <a:solidFill>
            <a:srgbClr val="1A1A1A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0456" y="5120640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F0F0F0"/>
                </a:solidFill>
                <a:latin typeface="Calibri"/>
              </a:rPr>
              <a:t>Remaining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0456" y="5440680"/>
            <a:ext cx="301752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200" b="1" i="0" dirty="0">
                <a:solidFill>
                  <a:srgbClr val="FFDF8A"/>
                </a:solidFill>
                <a:latin typeface="Calibri"/>
              </a:rPr>
              <a:t> $</a:t>
            </a:r>
            <a:r>
              <a:rPr lang="en-US" sz="3200" b="1" i="0" dirty="0">
                <a:solidFill>
                  <a:srgbClr val="FFDF8A"/>
                </a:solidFill>
                <a:latin typeface="Calibri"/>
              </a:rPr>
              <a:t>118</a:t>
            </a:r>
            <a:r>
              <a:rPr sz="3200" b="1" i="0" dirty="0">
                <a:solidFill>
                  <a:srgbClr val="FFDF8A"/>
                </a:solidFill>
                <a:latin typeface="Calibri"/>
              </a:rPr>
              <a:t>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199632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777777"/>
                </a:solidFill>
                <a:latin typeface="Calibri"/>
              </a:rPr>
              <a:t>Fill in your allocated total budget; remaining = total − spent.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55664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alibri"/>
              </a:rPr>
              <a:t>SnapChef · GIX 2026 Spring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55664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1150</Words>
  <Application>Microsoft Macintosh PowerPoint</Application>
  <PresentationFormat>Widescreen</PresentationFormat>
  <Paragraphs>219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menglh020702@gmail.com</cp:lastModifiedBy>
  <cp:revision>3</cp:revision>
  <dcterms:created xsi:type="dcterms:W3CDTF">2013-01-27T09:14:16Z</dcterms:created>
  <dcterms:modified xsi:type="dcterms:W3CDTF">2026-06-09T02:23:53Z</dcterms:modified>
  <cp:category/>
</cp:coreProperties>
</file>